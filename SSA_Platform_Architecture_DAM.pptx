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4946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0D1B2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2234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7040880" y="274320"/>
            <a:ext cx="1828800" cy="1828800"/>
          </a:xfrm>
          <a:prstGeom prst="ellipse">
            <a:avLst/>
          </a:prstGeom>
          <a:solidFill>
            <a:srgbClr val="00B4C8">
              <a:alpha val="12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7589520" y="2011680"/>
            <a:ext cx="1188720" cy="1188720"/>
          </a:xfrm>
          <a:prstGeom prst="ellipse">
            <a:avLst/>
          </a:prstGeom>
          <a:solidFill>
            <a:srgbClr val="00B4C8">
              <a:alpha val="18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6583680" y="3474720"/>
            <a:ext cx="822960" cy="822960"/>
          </a:xfrm>
          <a:prstGeom prst="ellipse">
            <a:avLst/>
          </a:prstGeom>
          <a:solidFill>
            <a:srgbClr val="00B4C8">
              <a:alpha val="22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Text 6"/>
          <p:cNvSpPr/>
          <p:nvPr/>
        </p:nvSpPr>
        <p:spPr>
          <a:xfrm>
            <a:off x="502920" y="1097280"/>
            <a:ext cx="5669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Platform Design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502920" y="306324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SSA Opportunity Platform syncs to BigQuery and HubSpot —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editing, data integrity &amp; implementation roadmap.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02920" y="466344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Dentsu South Africa – DAM Practice  |  Wayne Tigere  |  March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" y="-54864"/>
            <a:ext cx="9144000" cy="960120"/>
          </a:xfrm>
          <a:prstGeom prst="rect">
            <a:avLst/>
          </a:prstGeom>
          <a:solidFill>
            <a:srgbClr val="122340"/>
          </a:solidFill>
          <a:ln/>
        </p:spPr>
        <p:txBody>
          <a:bodyPr/>
          <a:lstStyle/>
          <a:p>
            <a:endParaRPr lang="en-ZA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960120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Text 3"/>
          <p:cNvSpPr/>
          <p:nvPr/>
        </p:nvSpPr>
        <p:spPr>
          <a:xfrm>
            <a:off x="411480" y="1828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BUILDING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2971800" y="1188720"/>
            <a:ext cx="3200400" cy="1234440"/>
          </a:xfrm>
          <a:prstGeom prst="rect">
            <a:avLst/>
          </a:prstGeom>
          <a:solidFill>
            <a:srgbClr val="00B4C8"/>
          </a:solidFill>
          <a:ln/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8" name="Text 5"/>
          <p:cNvSpPr/>
          <p:nvPr/>
        </p:nvSpPr>
        <p:spPr>
          <a:xfrm>
            <a:off x="2971800" y="1188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SSA Platform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971800" y="1682496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  ·  Firebase Hosting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opportunities.dentsuafrica.com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74320" y="1920240"/>
            <a:ext cx="2423160" cy="914400"/>
          </a:xfrm>
          <a:prstGeom prst="rect">
            <a:avLst/>
          </a:prstGeom>
          <a:solidFill>
            <a:srgbClr val="12234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1" name="Shape 8"/>
          <p:cNvSpPr/>
          <p:nvPr/>
        </p:nvSpPr>
        <p:spPr>
          <a:xfrm>
            <a:off x="274320" y="1920240"/>
            <a:ext cx="54864" cy="914400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" name="Text 9"/>
          <p:cNvSpPr/>
          <p:nvPr/>
        </p:nvSpPr>
        <p:spPr>
          <a:xfrm>
            <a:off x="384048" y="19202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Functions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84048" y="23591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 ·  Validate  ·  Transform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446520" y="1920240"/>
            <a:ext cx="2423160" cy="914400"/>
          </a:xfrm>
          <a:prstGeom prst="rect">
            <a:avLst/>
          </a:prstGeom>
          <a:solidFill>
            <a:srgbClr val="12234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5" name="Shape 12"/>
          <p:cNvSpPr/>
          <p:nvPr/>
        </p:nvSpPr>
        <p:spPr>
          <a:xfrm>
            <a:off x="6446520" y="1920240"/>
            <a:ext cx="54864" cy="914400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6" name="Text 13"/>
          <p:cNvSpPr/>
          <p:nvPr/>
        </p:nvSpPr>
        <p:spPr>
          <a:xfrm>
            <a:off x="6556248" y="19202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556248" y="23591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Record  ·  All Ops Data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971800" y="3337560"/>
            <a:ext cx="3200400" cy="914400"/>
          </a:xfrm>
          <a:prstGeom prst="rect">
            <a:avLst/>
          </a:prstGeom>
          <a:solidFill>
            <a:srgbClr val="12234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9" name="Shape 16"/>
          <p:cNvSpPr/>
          <p:nvPr/>
        </p:nvSpPr>
        <p:spPr>
          <a:xfrm>
            <a:off x="2971800" y="3337560"/>
            <a:ext cx="54864" cy="914400"/>
          </a:xfrm>
          <a:prstGeom prst="rect">
            <a:avLst/>
          </a:prstGeom>
          <a:solidFill>
            <a:srgbClr val="FF7A59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0" name="Text 17"/>
          <p:cNvSpPr/>
          <p:nvPr/>
        </p:nvSpPr>
        <p:spPr>
          <a:xfrm>
            <a:off x="3081528" y="333756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 CRM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3081528" y="377647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nurture  ·  CRM workflows  ·  1 licence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697480" y="2377440"/>
            <a:ext cx="292608" cy="0"/>
          </a:xfrm>
          <a:prstGeom prst="line">
            <a:avLst/>
          </a:prstGeom>
          <a:noFill/>
          <a:ln w="19050">
            <a:solidFill>
              <a:srgbClr val="00B4C8"/>
            </a:solidFill>
            <a:prstDash val="solid"/>
            <a:tailEnd type="arrow"/>
          </a:ln>
        </p:spPr>
        <p:txBody>
          <a:bodyPr/>
          <a:lstStyle/>
          <a:p>
            <a:endParaRPr lang="en-ZA"/>
          </a:p>
        </p:txBody>
      </p:sp>
      <p:sp>
        <p:nvSpPr>
          <p:cNvPr id="23" name="Shape 20"/>
          <p:cNvSpPr/>
          <p:nvPr/>
        </p:nvSpPr>
        <p:spPr>
          <a:xfrm>
            <a:off x="2697480" y="2633472"/>
            <a:ext cx="292608" cy="0"/>
          </a:xfrm>
          <a:prstGeom prst="line">
            <a:avLst/>
          </a:prstGeom>
          <a:noFill/>
          <a:ln w="19050">
            <a:solidFill>
              <a:srgbClr val="00B4C8"/>
            </a:solidFill>
            <a:prstDash val="solid"/>
            <a:headEnd type="arrow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1"/>
          <p:cNvSpPr/>
          <p:nvPr/>
        </p:nvSpPr>
        <p:spPr>
          <a:xfrm>
            <a:off x="2578608" y="23317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6172200" y="2377440"/>
            <a:ext cx="292608" cy="0"/>
          </a:xfrm>
          <a:prstGeom prst="line">
            <a:avLst/>
          </a:prstGeom>
          <a:noFill/>
          <a:ln w="19050">
            <a:solidFill>
              <a:srgbClr val="00B4C8"/>
            </a:solidFill>
            <a:prstDash val="solid"/>
            <a:tailEnd type="arrow"/>
          </a:ln>
        </p:spPr>
        <p:txBody>
          <a:bodyPr/>
          <a:lstStyle/>
          <a:p>
            <a:endParaRPr lang="en-ZA"/>
          </a:p>
        </p:txBody>
      </p:sp>
      <p:sp>
        <p:nvSpPr>
          <p:cNvPr id="26" name="Shape 23"/>
          <p:cNvSpPr/>
          <p:nvPr/>
        </p:nvSpPr>
        <p:spPr>
          <a:xfrm>
            <a:off x="6172200" y="2633472"/>
            <a:ext cx="292608" cy="0"/>
          </a:xfrm>
          <a:prstGeom prst="line">
            <a:avLst/>
          </a:prstGeom>
          <a:noFill/>
          <a:ln w="19050">
            <a:solidFill>
              <a:srgbClr val="00B4C8"/>
            </a:solidFill>
            <a:prstDash val="solid"/>
            <a:headEnd type="arrow"/>
          </a:ln>
        </p:spPr>
        <p:txBody>
          <a:bodyPr/>
          <a:lstStyle/>
          <a:p>
            <a:endParaRPr lang="en-ZA"/>
          </a:p>
        </p:txBody>
      </p:sp>
      <p:sp>
        <p:nvSpPr>
          <p:cNvPr id="27" name="Text 24"/>
          <p:cNvSpPr/>
          <p:nvPr/>
        </p:nvSpPr>
        <p:spPr>
          <a:xfrm>
            <a:off x="6053328" y="23317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read/write</a:t>
            </a:r>
            <a:endParaRPr lang="en-US" sz="750" dirty="0"/>
          </a:p>
        </p:txBody>
      </p:sp>
      <p:sp>
        <p:nvSpPr>
          <p:cNvPr id="28" name="Shape 25"/>
          <p:cNvSpPr/>
          <p:nvPr/>
        </p:nvSpPr>
        <p:spPr>
          <a:xfrm>
            <a:off x="4572000" y="2423160"/>
            <a:ext cx="0" cy="932688"/>
          </a:xfrm>
          <a:prstGeom prst="line">
            <a:avLst/>
          </a:prstGeom>
          <a:noFill/>
          <a:ln w="19050">
            <a:solidFill>
              <a:srgbClr val="FF7A59"/>
            </a:solidFill>
            <a:prstDash val="dash"/>
            <a:tailEnd type="arrow"/>
          </a:ln>
        </p:spPr>
        <p:txBody>
          <a:bodyPr/>
          <a:lstStyle/>
          <a:p>
            <a:endParaRPr lang="en-ZA"/>
          </a:p>
        </p:txBody>
      </p:sp>
      <p:sp>
        <p:nvSpPr>
          <p:cNvPr id="29" name="Text 26"/>
          <p:cNvSpPr/>
          <p:nvPr/>
        </p:nvSpPr>
        <p:spPr>
          <a:xfrm>
            <a:off x="4617720" y="281635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274320" y="446227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is the single source of record. HubSpot receives an asynchronous, non-blocking update — saves never depend on HubSpot availability.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234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960120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Text 3"/>
          <p:cNvSpPr/>
          <p:nvPr/>
        </p:nvSpPr>
        <p:spPr>
          <a:xfrm>
            <a:off x="411480" y="1828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EDITING IN THE PLATFORM UI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274320" y="1078992"/>
            <a:ext cx="4114800" cy="475488"/>
          </a:xfrm>
          <a:prstGeom prst="rect">
            <a:avLst/>
          </a:prstGeom>
          <a:solidFill>
            <a:srgbClr val="12234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Shape 5"/>
          <p:cNvSpPr/>
          <p:nvPr/>
        </p:nvSpPr>
        <p:spPr>
          <a:xfrm>
            <a:off x="274320" y="1078992"/>
            <a:ext cx="54864" cy="475488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Text 6"/>
          <p:cNvSpPr/>
          <p:nvPr/>
        </p:nvSpPr>
        <p:spPr>
          <a:xfrm>
            <a:off x="411480" y="107899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users can do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74320" y="1664208"/>
            <a:ext cx="4114800" cy="475488"/>
          </a:xfrm>
          <a:prstGeom prst="rect">
            <a:avLst/>
          </a:prstGeom>
          <a:solidFill>
            <a:srgbClr val="0D1B2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Shape 8"/>
          <p:cNvSpPr/>
          <p:nvPr/>
        </p:nvSpPr>
        <p:spPr>
          <a:xfrm>
            <a:off x="274320" y="1664208"/>
            <a:ext cx="54864" cy="475488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" name="Text 9"/>
          <p:cNvSpPr/>
          <p:nvPr/>
        </p:nvSpPr>
        <p:spPr>
          <a:xfrm>
            <a:off x="411480" y="16824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View all opportunity rows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11480" y="19019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dataset from BigQuery with filters, sort &amp; search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74320" y="2176272"/>
            <a:ext cx="4114800" cy="475488"/>
          </a:xfrm>
          <a:prstGeom prst="rect">
            <a:avLst/>
          </a:prstGeom>
          <a:solidFill>
            <a:srgbClr val="12234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" name="Shape 12"/>
          <p:cNvSpPr/>
          <p:nvPr/>
        </p:nvSpPr>
        <p:spPr>
          <a:xfrm>
            <a:off x="274320" y="2176272"/>
            <a:ext cx="54864" cy="475488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6" name="Text 13"/>
          <p:cNvSpPr/>
          <p:nvPr/>
        </p:nvSpPr>
        <p:spPr>
          <a:xfrm>
            <a:off x="411480" y="21945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Inline cell editing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11480" y="241401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cell, type new value, press Save — no modal, no friction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74320" y="2688336"/>
            <a:ext cx="4114800" cy="475488"/>
          </a:xfrm>
          <a:prstGeom prst="rect">
            <a:avLst/>
          </a:prstGeom>
          <a:solidFill>
            <a:srgbClr val="0D1B2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9" name="Shape 16"/>
          <p:cNvSpPr/>
          <p:nvPr/>
        </p:nvSpPr>
        <p:spPr>
          <a:xfrm>
            <a:off x="274320" y="2688336"/>
            <a:ext cx="54864" cy="475488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0" name="Text 17"/>
          <p:cNvSpPr/>
          <p:nvPr/>
        </p:nvSpPr>
        <p:spPr>
          <a:xfrm>
            <a:off x="411480" y="27066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Add new opportunity rows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11480" y="292608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+New button opens a structured form with required field validation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74320" y="3200400"/>
            <a:ext cx="4114800" cy="475488"/>
          </a:xfrm>
          <a:prstGeom prst="rect">
            <a:avLst/>
          </a:prstGeom>
          <a:solidFill>
            <a:srgbClr val="12234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3" name="Shape 20"/>
          <p:cNvSpPr/>
          <p:nvPr/>
        </p:nvSpPr>
        <p:spPr>
          <a:xfrm>
            <a:off x="274320" y="3200400"/>
            <a:ext cx="54864" cy="475488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4" name="Text 21"/>
          <p:cNvSpPr/>
          <p:nvPr/>
        </p:nvSpPr>
        <p:spPr>
          <a:xfrm>
            <a:off x="411480" y="32186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Structured dropdowns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11480" y="343814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Country, Stage, Status, Likelihood — no free-text to keep data clean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74320" y="3712464"/>
            <a:ext cx="4114800" cy="475488"/>
          </a:xfrm>
          <a:prstGeom prst="rect">
            <a:avLst/>
          </a:prstGeom>
          <a:solidFill>
            <a:srgbClr val="0D1B2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7" name="Shape 24"/>
          <p:cNvSpPr/>
          <p:nvPr/>
        </p:nvSpPr>
        <p:spPr>
          <a:xfrm>
            <a:off x="274320" y="3712464"/>
            <a:ext cx="54864" cy="475488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8" name="Text 25"/>
          <p:cNvSpPr/>
          <p:nvPr/>
        </p:nvSpPr>
        <p:spPr>
          <a:xfrm>
            <a:off x="411480" y="373075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Edit key commercial fields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11480" y="39502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Owner, budget/forecast, expected revenue start date, scope details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274320" y="4224528"/>
            <a:ext cx="4114800" cy="475488"/>
          </a:xfrm>
          <a:prstGeom prst="rect">
            <a:avLst/>
          </a:prstGeom>
          <a:solidFill>
            <a:srgbClr val="12234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1" name="Shape 28"/>
          <p:cNvSpPr/>
          <p:nvPr/>
        </p:nvSpPr>
        <p:spPr>
          <a:xfrm>
            <a:off x="274320" y="4224528"/>
            <a:ext cx="54864" cy="475488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2" name="Text 29"/>
          <p:cNvSpPr/>
          <p:nvPr/>
        </p:nvSpPr>
        <p:spPr>
          <a:xfrm>
            <a:off x="411480" y="42428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Row-level save feedback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411480" y="44622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✓ or error toast shown immediately on each save action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709160" y="1078992"/>
            <a:ext cx="4160520" cy="475488"/>
          </a:xfrm>
          <a:prstGeom prst="rect">
            <a:avLst/>
          </a:prstGeom>
          <a:solidFill>
            <a:srgbClr val="12234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5" name="Shape 32"/>
          <p:cNvSpPr/>
          <p:nvPr/>
        </p:nvSpPr>
        <p:spPr>
          <a:xfrm>
            <a:off x="4709160" y="1078992"/>
            <a:ext cx="54864" cy="475488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6" name="Text 33"/>
          <p:cNvSpPr/>
          <p:nvPr/>
        </p:nvSpPr>
        <p:spPr>
          <a:xfrm>
            <a:off x="4846320" y="107899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field types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4709160" y="1664208"/>
            <a:ext cx="4160520" cy="576072"/>
          </a:xfrm>
          <a:prstGeom prst="rect">
            <a:avLst/>
          </a:prstGeom>
          <a:solidFill>
            <a:srgbClr val="0D1B2E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8" name="Shape 35"/>
          <p:cNvSpPr/>
          <p:nvPr/>
        </p:nvSpPr>
        <p:spPr>
          <a:xfrm>
            <a:off x="4709160" y="1664208"/>
            <a:ext cx="1188720" cy="576072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9" name="Text 36"/>
          <p:cNvSpPr/>
          <p:nvPr/>
        </p:nvSpPr>
        <p:spPr>
          <a:xfrm>
            <a:off x="4709160" y="1664208"/>
            <a:ext cx="1188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text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5961888" y="1755648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Name  ·  Opportunity Details / Scope  ·  Owner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4709160" y="2286000"/>
            <a:ext cx="4160520" cy="576072"/>
          </a:xfrm>
          <a:prstGeom prst="rect">
            <a:avLst/>
          </a:prstGeom>
          <a:solidFill>
            <a:srgbClr val="12234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42" name="Shape 39"/>
          <p:cNvSpPr/>
          <p:nvPr/>
        </p:nvSpPr>
        <p:spPr>
          <a:xfrm>
            <a:off x="4709160" y="2286000"/>
            <a:ext cx="1188720" cy="576072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3" name="Text 40"/>
          <p:cNvSpPr/>
          <p:nvPr/>
        </p:nvSpPr>
        <p:spPr>
          <a:xfrm>
            <a:off x="4709160" y="2286000"/>
            <a:ext cx="1188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dropdown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5961888" y="2377440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 ·  Agency Lead Brand  ·  Status  ·  Stage  ·  Likelihood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4709160" y="2907792"/>
            <a:ext cx="4160520" cy="576072"/>
          </a:xfrm>
          <a:prstGeom prst="rect">
            <a:avLst/>
          </a:prstGeom>
          <a:solidFill>
            <a:srgbClr val="0D1B2E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46" name="Shape 43"/>
          <p:cNvSpPr/>
          <p:nvPr/>
        </p:nvSpPr>
        <p:spPr>
          <a:xfrm>
            <a:off x="4709160" y="2907792"/>
            <a:ext cx="1188720" cy="57607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7" name="Text 44"/>
          <p:cNvSpPr/>
          <p:nvPr/>
        </p:nvSpPr>
        <p:spPr>
          <a:xfrm>
            <a:off x="4709160" y="2907792"/>
            <a:ext cx="1188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picker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5961888" y="299923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Revenue Start Date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4709160" y="3529584"/>
            <a:ext cx="4160520" cy="576072"/>
          </a:xfrm>
          <a:prstGeom prst="rect">
            <a:avLst/>
          </a:prstGeom>
          <a:solidFill>
            <a:srgbClr val="12234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0" name="Shape 47"/>
          <p:cNvSpPr/>
          <p:nvPr/>
        </p:nvSpPr>
        <p:spPr>
          <a:xfrm>
            <a:off x="4709160" y="3529584"/>
            <a:ext cx="1188720" cy="576072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1" name="Text 48"/>
          <p:cNvSpPr/>
          <p:nvPr/>
        </p:nvSpPr>
        <p:spPr>
          <a:xfrm>
            <a:off x="4709160" y="3529584"/>
            <a:ext cx="1188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/ currency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5961888" y="3621024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 ·  Forecast Values  ·  Revenue Estimates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4709160" y="4151376"/>
            <a:ext cx="4160520" cy="576072"/>
          </a:xfrm>
          <a:prstGeom prst="rect">
            <a:avLst/>
          </a:prstGeom>
          <a:solidFill>
            <a:srgbClr val="0D1B2E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4" name="Shape 51"/>
          <p:cNvSpPr/>
          <p:nvPr/>
        </p:nvSpPr>
        <p:spPr>
          <a:xfrm>
            <a:off x="4709160" y="4151376"/>
            <a:ext cx="1188720" cy="576072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5" name="Text 52"/>
          <p:cNvSpPr/>
          <p:nvPr/>
        </p:nvSpPr>
        <p:spPr>
          <a:xfrm>
            <a:off x="4709160" y="4151376"/>
            <a:ext cx="1188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System-fed (read-only)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5961888" y="4242816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ID  ·  Created Date  ·  Last Modified By  ·  Source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234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960120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Text 3"/>
          <p:cNvSpPr/>
          <p:nvPr/>
        </p:nvSpPr>
        <p:spPr>
          <a:xfrm>
            <a:off x="411480" y="1828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RECORD CHANGE FLOWS — END TO END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256032" y="1051560"/>
            <a:ext cx="1572768" cy="2834640"/>
          </a:xfrm>
          <a:prstGeom prst="rect">
            <a:avLst/>
          </a:prstGeom>
          <a:solidFill>
            <a:srgbClr val="122340"/>
          </a:solidFill>
          <a:ln/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8" name="Shape 5"/>
          <p:cNvSpPr/>
          <p:nvPr/>
        </p:nvSpPr>
        <p:spPr>
          <a:xfrm>
            <a:off x="256032" y="1051560"/>
            <a:ext cx="1572768" cy="566928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Shape 6"/>
          <p:cNvSpPr/>
          <p:nvPr/>
        </p:nvSpPr>
        <p:spPr>
          <a:xfrm>
            <a:off x="347472" y="1115568"/>
            <a:ext cx="347472" cy="347472"/>
          </a:xfrm>
          <a:prstGeom prst="ellipse">
            <a:avLst/>
          </a:prstGeom>
          <a:solidFill>
            <a:srgbClr val="0A0F1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Text 7"/>
          <p:cNvSpPr/>
          <p:nvPr/>
        </p:nvSpPr>
        <p:spPr>
          <a:xfrm>
            <a:off x="347472" y="1115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49808" y="1097280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edits record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47472" y="1691640"/>
            <a:ext cx="1389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champion clicks a cell, updates the value and clicks Save. All changes captured in React state.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9184" y="3685032"/>
            <a:ext cx="1426464" cy="164592"/>
          </a:xfrm>
          <a:prstGeom prst="rect">
            <a:avLst/>
          </a:prstGeom>
          <a:solidFill>
            <a:srgbClr val="00B4C8">
              <a:alpha val="22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Text 11"/>
          <p:cNvSpPr/>
          <p:nvPr/>
        </p:nvSpPr>
        <p:spPr>
          <a:xfrm>
            <a:off x="329184" y="3685032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 ·  onSave()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1865376" y="2242109"/>
            <a:ext cx="128016" cy="0"/>
          </a:xfrm>
          <a:prstGeom prst="line">
            <a:avLst/>
          </a:prstGeom>
          <a:noFill/>
          <a:ln w="19050">
            <a:solidFill>
              <a:srgbClr val="00B4C8"/>
            </a:solidFill>
            <a:prstDash val="solid"/>
            <a:tailEnd type="arrow"/>
          </a:ln>
        </p:spPr>
        <p:txBody>
          <a:bodyPr/>
          <a:lstStyle/>
          <a:p>
            <a:endParaRPr lang="en-ZA"/>
          </a:p>
        </p:txBody>
      </p:sp>
      <p:sp>
        <p:nvSpPr>
          <p:cNvPr id="16" name="Shape 13"/>
          <p:cNvSpPr/>
          <p:nvPr/>
        </p:nvSpPr>
        <p:spPr>
          <a:xfrm>
            <a:off x="1993392" y="1051560"/>
            <a:ext cx="1572768" cy="2834640"/>
          </a:xfrm>
          <a:prstGeom prst="rect">
            <a:avLst/>
          </a:prstGeom>
          <a:solidFill>
            <a:srgbClr val="122340"/>
          </a:solidFill>
          <a:ln/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7" name="Shape 14"/>
          <p:cNvSpPr/>
          <p:nvPr/>
        </p:nvSpPr>
        <p:spPr>
          <a:xfrm>
            <a:off x="1993392" y="1051560"/>
            <a:ext cx="1572768" cy="56692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" name="Shape 15"/>
          <p:cNvSpPr/>
          <p:nvPr/>
        </p:nvSpPr>
        <p:spPr>
          <a:xfrm>
            <a:off x="2084832" y="1115568"/>
            <a:ext cx="347472" cy="347472"/>
          </a:xfrm>
          <a:prstGeom prst="ellipse">
            <a:avLst/>
          </a:prstGeom>
          <a:solidFill>
            <a:srgbClr val="0A0F1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9" name="Text 16"/>
          <p:cNvSpPr/>
          <p:nvPr/>
        </p:nvSpPr>
        <p:spPr>
          <a:xfrm>
            <a:off x="2084832" y="1115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2487168" y="1097280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Validate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2084832" y="1691640"/>
            <a:ext cx="1389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Cloud Function checks auth token, validates required fields, data types &amp; business rules.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066544" y="3685032"/>
            <a:ext cx="1426464" cy="164592"/>
          </a:xfrm>
          <a:prstGeom prst="rect">
            <a:avLst/>
          </a:prstGeom>
          <a:solidFill>
            <a:srgbClr val="F59E0B">
              <a:alpha val="22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3" name="Text 20"/>
          <p:cNvSpPr/>
          <p:nvPr/>
        </p:nvSpPr>
        <p:spPr>
          <a:xfrm>
            <a:off x="2066544" y="3685032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Function  ·  Firebase Auth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3602736" y="2242109"/>
            <a:ext cx="128016" cy="0"/>
          </a:xfrm>
          <a:prstGeom prst="line">
            <a:avLst/>
          </a:prstGeom>
          <a:noFill/>
          <a:ln w="19050">
            <a:solidFill>
              <a:srgbClr val="00B4C8"/>
            </a:solidFill>
            <a:prstDash val="solid"/>
            <a:tailEnd type="arrow"/>
          </a:ln>
        </p:spPr>
        <p:txBody>
          <a:bodyPr/>
          <a:lstStyle/>
          <a:p>
            <a:endParaRPr lang="en-ZA"/>
          </a:p>
        </p:txBody>
      </p:sp>
      <p:sp>
        <p:nvSpPr>
          <p:cNvPr id="25" name="Shape 22"/>
          <p:cNvSpPr/>
          <p:nvPr/>
        </p:nvSpPr>
        <p:spPr>
          <a:xfrm>
            <a:off x="3730752" y="1051560"/>
            <a:ext cx="1572768" cy="2834640"/>
          </a:xfrm>
          <a:prstGeom prst="rect">
            <a:avLst/>
          </a:prstGeom>
          <a:solidFill>
            <a:srgbClr val="122340"/>
          </a:solidFill>
          <a:ln/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6" name="Shape 23"/>
          <p:cNvSpPr/>
          <p:nvPr/>
        </p:nvSpPr>
        <p:spPr>
          <a:xfrm>
            <a:off x="3730752" y="1051560"/>
            <a:ext cx="1572768" cy="566928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7" name="Shape 24"/>
          <p:cNvSpPr/>
          <p:nvPr/>
        </p:nvSpPr>
        <p:spPr>
          <a:xfrm>
            <a:off x="3822192" y="1115568"/>
            <a:ext cx="347472" cy="347472"/>
          </a:xfrm>
          <a:prstGeom prst="ellipse">
            <a:avLst/>
          </a:prstGeom>
          <a:solidFill>
            <a:srgbClr val="0A0F1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8" name="Text 25"/>
          <p:cNvSpPr/>
          <p:nvPr/>
        </p:nvSpPr>
        <p:spPr>
          <a:xfrm>
            <a:off x="3822192" y="1115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224528" y="1097280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updated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3822192" y="1691640"/>
            <a:ext cx="1389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row is immediately inserted or updated in BigQuery. This is the primary write — always first.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3803904" y="3685032"/>
            <a:ext cx="1426464" cy="164592"/>
          </a:xfrm>
          <a:prstGeom prst="rect">
            <a:avLst/>
          </a:prstGeom>
          <a:solidFill>
            <a:srgbClr val="00D4AA">
              <a:alpha val="22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2" name="Text 29"/>
          <p:cNvSpPr/>
          <p:nvPr/>
        </p:nvSpPr>
        <p:spPr>
          <a:xfrm>
            <a:off x="3803904" y="3685032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@google-cloud/bigquery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5340096" y="2242109"/>
            <a:ext cx="128016" cy="0"/>
          </a:xfrm>
          <a:prstGeom prst="line">
            <a:avLst/>
          </a:prstGeom>
          <a:noFill/>
          <a:ln w="19050">
            <a:solidFill>
              <a:srgbClr val="00B4C8"/>
            </a:solidFill>
            <a:prstDash val="solid"/>
            <a:tailEnd type="arrow"/>
          </a:ln>
        </p:spPr>
        <p:txBody>
          <a:bodyPr/>
          <a:lstStyle/>
          <a:p>
            <a:endParaRPr lang="en-ZA"/>
          </a:p>
        </p:txBody>
      </p:sp>
      <p:sp>
        <p:nvSpPr>
          <p:cNvPr id="34" name="Shape 31"/>
          <p:cNvSpPr/>
          <p:nvPr/>
        </p:nvSpPr>
        <p:spPr>
          <a:xfrm>
            <a:off x="5468112" y="1051560"/>
            <a:ext cx="1572768" cy="2834640"/>
          </a:xfrm>
          <a:prstGeom prst="rect">
            <a:avLst/>
          </a:prstGeom>
          <a:solidFill>
            <a:srgbClr val="122340"/>
          </a:solidFill>
          <a:ln/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5" name="Shape 32"/>
          <p:cNvSpPr/>
          <p:nvPr/>
        </p:nvSpPr>
        <p:spPr>
          <a:xfrm>
            <a:off x="5468112" y="1051560"/>
            <a:ext cx="1572768" cy="566928"/>
          </a:xfrm>
          <a:prstGeom prst="rect">
            <a:avLst/>
          </a:prstGeom>
          <a:solidFill>
            <a:srgbClr val="FF7A59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6" name="Shape 33"/>
          <p:cNvSpPr/>
          <p:nvPr/>
        </p:nvSpPr>
        <p:spPr>
          <a:xfrm>
            <a:off x="5559552" y="1115568"/>
            <a:ext cx="347472" cy="347472"/>
          </a:xfrm>
          <a:prstGeom prst="ellipse">
            <a:avLst/>
          </a:prstGeom>
          <a:solidFill>
            <a:srgbClr val="0A0F1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7" name="Text 34"/>
          <p:cNvSpPr/>
          <p:nvPr/>
        </p:nvSpPr>
        <p:spPr>
          <a:xfrm>
            <a:off x="5559552" y="1115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5961888" y="1097280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 synced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5559552" y="1691640"/>
            <a:ext cx="1389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non-blocking async call updates the matching HubSpot deal via API. BQ save is unaffected if HS is down.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5541264" y="3685032"/>
            <a:ext cx="1426464" cy="164592"/>
          </a:xfrm>
          <a:prstGeom prst="rect">
            <a:avLst/>
          </a:prstGeom>
          <a:solidFill>
            <a:srgbClr val="FF7A59">
              <a:alpha val="22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1" name="Text 38"/>
          <p:cNvSpPr/>
          <p:nvPr/>
        </p:nvSpPr>
        <p:spPr>
          <a:xfrm>
            <a:off x="5541264" y="3685032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@hubspot/api-client  ·  PATCH /deals</a:t>
            </a:r>
            <a:endParaRPr lang="en-US" sz="700" dirty="0"/>
          </a:p>
        </p:txBody>
      </p:sp>
      <p:sp>
        <p:nvSpPr>
          <p:cNvPr id="42" name="Shape 39"/>
          <p:cNvSpPr/>
          <p:nvPr/>
        </p:nvSpPr>
        <p:spPr>
          <a:xfrm>
            <a:off x="7077456" y="2242109"/>
            <a:ext cx="128016" cy="0"/>
          </a:xfrm>
          <a:prstGeom prst="line">
            <a:avLst/>
          </a:prstGeom>
          <a:noFill/>
          <a:ln w="19050">
            <a:solidFill>
              <a:srgbClr val="00B4C8"/>
            </a:solidFill>
            <a:prstDash val="solid"/>
            <a:tailEnd type="arrow"/>
          </a:ln>
        </p:spPr>
        <p:txBody>
          <a:bodyPr/>
          <a:lstStyle/>
          <a:p>
            <a:endParaRPr lang="en-ZA"/>
          </a:p>
        </p:txBody>
      </p:sp>
      <p:sp>
        <p:nvSpPr>
          <p:cNvPr id="43" name="Shape 40"/>
          <p:cNvSpPr/>
          <p:nvPr/>
        </p:nvSpPr>
        <p:spPr>
          <a:xfrm>
            <a:off x="7205472" y="1051560"/>
            <a:ext cx="1572768" cy="2834640"/>
          </a:xfrm>
          <a:prstGeom prst="rect">
            <a:avLst/>
          </a:prstGeom>
          <a:solidFill>
            <a:srgbClr val="122340"/>
          </a:solidFill>
          <a:ln/>
          <a:effectLst>
            <a:outerShdw blurRad="152400" dist="508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44" name="Shape 41"/>
          <p:cNvSpPr/>
          <p:nvPr/>
        </p:nvSpPr>
        <p:spPr>
          <a:xfrm>
            <a:off x="7205472" y="1051560"/>
            <a:ext cx="1572768" cy="56692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5" name="Shape 42"/>
          <p:cNvSpPr/>
          <p:nvPr/>
        </p:nvSpPr>
        <p:spPr>
          <a:xfrm>
            <a:off x="7296912" y="1115568"/>
            <a:ext cx="347472" cy="347472"/>
          </a:xfrm>
          <a:prstGeom prst="ellipse">
            <a:avLst/>
          </a:prstGeom>
          <a:solidFill>
            <a:srgbClr val="0A0F1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6" name="Text 43"/>
          <p:cNvSpPr/>
          <p:nvPr/>
        </p:nvSpPr>
        <p:spPr>
          <a:xfrm>
            <a:off x="7296912" y="1115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7699248" y="1097280"/>
            <a:ext cx="10241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notified</a:t>
            </a:r>
            <a:endParaRPr lang="en-US" sz="1050" dirty="0"/>
          </a:p>
        </p:txBody>
      </p:sp>
      <p:sp>
        <p:nvSpPr>
          <p:cNvPr id="48" name="Text 45"/>
          <p:cNvSpPr/>
          <p:nvPr/>
        </p:nvSpPr>
        <p:spPr>
          <a:xfrm>
            <a:off x="7296912" y="1691640"/>
            <a:ext cx="13898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✓ toast shown after BigQuery confirms. HubSpot sync status logged server-side, never a user blocker.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7278624" y="3685032"/>
            <a:ext cx="1426464" cy="164592"/>
          </a:xfrm>
          <a:prstGeom prst="rect">
            <a:avLst/>
          </a:prstGeom>
          <a:solidFill>
            <a:srgbClr val="10B981">
              <a:alpha val="22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0" name="Text 47"/>
          <p:cNvSpPr/>
          <p:nvPr/>
        </p:nvSpPr>
        <p:spPr>
          <a:xfrm>
            <a:off x="7278624" y="3685032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notification</a:t>
            </a:r>
            <a:endParaRPr lang="en-US" sz="700" dirty="0"/>
          </a:p>
        </p:txBody>
      </p:sp>
      <p:sp>
        <p:nvSpPr>
          <p:cNvPr id="51" name="Shape 48"/>
          <p:cNvSpPr/>
          <p:nvPr/>
        </p:nvSpPr>
        <p:spPr>
          <a:xfrm>
            <a:off x="256032" y="3977640"/>
            <a:ext cx="8631936" cy="841248"/>
          </a:xfrm>
          <a:prstGeom prst="rect">
            <a:avLst/>
          </a:prstGeom>
          <a:solidFill>
            <a:srgbClr val="0D1B2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2" name="Shape 49"/>
          <p:cNvSpPr/>
          <p:nvPr/>
        </p:nvSpPr>
        <p:spPr>
          <a:xfrm>
            <a:off x="256032" y="3977640"/>
            <a:ext cx="73152" cy="841248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3" name="Text 50"/>
          <p:cNvSpPr/>
          <p:nvPr/>
        </p:nvSpPr>
        <p:spPr>
          <a:xfrm>
            <a:off x="420624" y="397764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principle</a:t>
            </a:r>
            <a:endParaRPr lang="en-US" sz="1100" dirty="0"/>
          </a:p>
        </p:txBody>
      </p:sp>
      <p:sp>
        <p:nvSpPr>
          <p:cNvPr id="54" name="Text 51"/>
          <p:cNvSpPr/>
          <p:nvPr/>
        </p:nvSpPr>
        <p:spPr>
          <a:xfrm>
            <a:off x="420624" y="4306824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write always succeeds first. HubSpot sync is async — a HubSpot outage, rate limit, or licence issue will never prevent market champions from saving data.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234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960120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Text 3"/>
          <p:cNvSpPr/>
          <p:nvPr/>
        </p:nvSpPr>
        <p:spPr>
          <a:xfrm>
            <a:off x="411480" y="1828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IN BIGQUERY &amp; HUBSPOT WHEN YOU EDIT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256032" y="1051560"/>
            <a:ext cx="4096512" cy="475488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Text 5"/>
          <p:cNvSpPr/>
          <p:nvPr/>
        </p:nvSpPr>
        <p:spPr>
          <a:xfrm>
            <a:off x="256032" y="1051560"/>
            <a:ext cx="4096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— what gets written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56032" y="1627632"/>
            <a:ext cx="4096512" cy="512064"/>
          </a:xfrm>
          <a:prstGeom prst="rect">
            <a:avLst/>
          </a:prstGeom>
          <a:solidFill>
            <a:srgbClr val="0D1B2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Shape 7"/>
          <p:cNvSpPr/>
          <p:nvPr/>
        </p:nvSpPr>
        <p:spPr>
          <a:xfrm>
            <a:off x="256032" y="1627632"/>
            <a:ext cx="64008" cy="512064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1" name="Text 8"/>
          <p:cNvSpPr/>
          <p:nvPr/>
        </p:nvSpPr>
        <p:spPr>
          <a:xfrm>
            <a:off x="402336" y="164592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row UPSERT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02336" y="1883664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matching row is updated in-place using opportunity_id as the unique key.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56032" y="2176272"/>
            <a:ext cx="4096512" cy="512064"/>
          </a:xfrm>
          <a:prstGeom prst="rect">
            <a:avLst/>
          </a:prstGeom>
          <a:solidFill>
            <a:srgbClr val="12234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Shape 11"/>
          <p:cNvSpPr/>
          <p:nvPr/>
        </p:nvSpPr>
        <p:spPr>
          <a:xfrm>
            <a:off x="256032" y="2176272"/>
            <a:ext cx="64008" cy="512064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" name="Text 12"/>
          <p:cNvSpPr/>
          <p:nvPr/>
        </p:nvSpPr>
        <p:spPr>
          <a:xfrm>
            <a:off x="402336" y="219456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edited fields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02336" y="2432304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the user touched is written — full row state is committed each time.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56032" y="2724912"/>
            <a:ext cx="4096512" cy="512064"/>
          </a:xfrm>
          <a:prstGeom prst="rect">
            <a:avLst/>
          </a:prstGeom>
          <a:solidFill>
            <a:srgbClr val="0D1B2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" name="Shape 15"/>
          <p:cNvSpPr/>
          <p:nvPr/>
        </p:nvSpPr>
        <p:spPr>
          <a:xfrm>
            <a:off x="256032" y="2724912"/>
            <a:ext cx="64008" cy="512064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9" name="Text 16"/>
          <p:cNvSpPr/>
          <p:nvPr/>
        </p:nvSpPr>
        <p:spPr>
          <a:xfrm>
            <a:off x="402336" y="274320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metadata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02336" y="2980944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updated_at timestamp and updated_by (Firebase user UID) added automatically.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56032" y="3273552"/>
            <a:ext cx="4096512" cy="512064"/>
          </a:xfrm>
          <a:prstGeom prst="rect">
            <a:avLst/>
          </a:prstGeom>
          <a:solidFill>
            <a:srgbClr val="12234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2" name="Shape 19"/>
          <p:cNvSpPr/>
          <p:nvPr/>
        </p:nvSpPr>
        <p:spPr>
          <a:xfrm>
            <a:off x="256032" y="3273552"/>
            <a:ext cx="64008" cy="512064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3" name="Text 20"/>
          <p:cNvSpPr/>
          <p:nvPr/>
        </p:nvSpPr>
        <p:spPr>
          <a:xfrm>
            <a:off x="402336" y="329184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history table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02336" y="3529584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bq_edit_log table captures before/after state of every field change.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56032" y="3822192"/>
            <a:ext cx="4096512" cy="512064"/>
          </a:xfrm>
          <a:prstGeom prst="rect">
            <a:avLst/>
          </a:prstGeom>
          <a:solidFill>
            <a:srgbClr val="0D1B2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6" name="Shape 23"/>
          <p:cNvSpPr/>
          <p:nvPr/>
        </p:nvSpPr>
        <p:spPr>
          <a:xfrm>
            <a:off x="256032" y="3822192"/>
            <a:ext cx="64008" cy="512064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7" name="Text 24"/>
          <p:cNvSpPr/>
          <p:nvPr/>
        </p:nvSpPr>
        <p:spPr>
          <a:xfrm>
            <a:off x="402336" y="384048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status flag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02336" y="4078224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hs_sync_status set to pending on BQ write, updated to synced once HubSpot confirms.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791456" y="1051560"/>
            <a:ext cx="4096512" cy="475488"/>
          </a:xfrm>
          <a:prstGeom prst="rect">
            <a:avLst/>
          </a:prstGeom>
          <a:solidFill>
            <a:srgbClr val="FF7A59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0" name="Text 27"/>
          <p:cNvSpPr/>
          <p:nvPr/>
        </p:nvSpPr>
        <p:spPr>
          <a:xfrm>
            <a:off x="4791456" y="1051560"/>
            <a:ext cx="4096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 — what gets synced (async)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791456" y="1627632"/>
            <a:ext cx="4096512" cy="512064"/>
          </a:xfrm>
          <a:prstGeom prst="rect">
            <a:avLst/>
          </a:prstGeom>
          <a:solidFill>
            <a:srgbClr val="0D1B2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2" name="Shape 29"/>
          <p:cNvSpPr/>
          <p:nvPr/>
        </p:nvSpPr>
        <p:spPr>
          <a:xfrm>
            <a:off x="4791456" y="1627632"/>
            <a:ext cx="64008" cy="512064"/>
          </a:xfrm>
          <a:prstGeom prst="rect">
            <a:avLst/>
          </a:prstGeom>
          <a:solidFill>
            <a:srgbClr val="FF7A59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3" name="Text 30"/>
          <p:cNvSpPr/>
          <p:nvPr/>
        </p:nvSpPr>
        <p:spPr>
          <a:xfrm>
            <a:off x="4937760" y="164592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record PATCH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4937760" y="1883664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PATCH call updates the matching deal using hs_deal_id stored in BigQuery as the key.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791456" y="2176272"/>
            <a:ext cx="4096512" cy="512064"/>
          </a:xfrm>
          <a:prstGeom prst="rect">
            <a:avLst/>
          </a:prstGeom>
          <a:solidFill>
            <a:srgbClr val="12234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6" name="Shape 33"/>
          <p:cNvSpPr/>
          <p:nvPr/>
        </p:nvSpPr>
        <p:spPr>
          <a:xfrm>
            <a:off x="4791456" y="2176272"/>
            <a:ext cx="64008" cy="512064"/>
          </a:xfrm>
          <a:prstGeom prst="rect">
            <a:avLst/>
          </a:prstGeom>
          <a:solidFill>
            <a:srgbClr val="FF7A59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7" name="Text 34"/>
          <p:cNvSpPr/>
          <p:nvPr/>
        </p:nvSpPr>
        <p:spPr>
          <a:xfrm>
            <a:off x="4937760" y="219456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fields only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4937760" y="2432304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defined fields sync (Deal Name, Stage, Amount, Owner, Close Date). Not every BQ field maps.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791456" y="2724912"/>
            <a:ext cx="4096512" cy="512064"/>
          </a:xfrm>
          <a:prstGeom prst="rect">
            <a:avLst/>
          </a:prstGeom>
          <a:solidFill>
            <a:srgbClr val="0D1B2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0" name="Shape 37"/>
          <p:cNvSpPr/>
          <p:nvPr/>
        </p:nvSpPr>
        <p:spPr>
          <a:xfrm>
            <a:off x="4791456" y="2724912"/>
            <a:ext cx="64008" cy="512064"/>
          </a:xfrm>
          <a:prstGeom prst="rect">
            <a:avLst/>
          </a:prstGeom>
          <a:solidFill>
            <a:srgbClr val="FF7A59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1" name="Text 38"/>
          <p:cNvSpPr/>
          <p:nvPr/>
        </p:nvSpPr>
        <p:spPr>
          <a:xfrm>
            <a:off x="4937760" y="274320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reverse write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4937760" y="2980944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 does not write back to BigQuery. Inbound leads handled via scheduled ingestion.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4791456" y="3273552"/>
            <a:ext cx="4096512" cy="512064"/>
          </a:xfrm>
          <a:prstGeom prst="rect">
            <a:avLst/>
          </a:prstGeom>
          <a:solidFill>
            <a:srgbClr val="12234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4" name="Shape 41"/>
          <p:cNvSpPr/>
          <p:nvPr/>
        </p:nvSpPr>
        <p:spPr>
          <a:xfrm>
            <a:off x="4791456" y="3273552"/>
            <a:ext cx="64008" cy="512064"/>
          </a:xfrm>
          <a:prstGeom prst="rect">
            <a:avLst/>
          </a:prstGeom>
          <a:solidFill>
            <a:srgbClr val="FF7A59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5" name="Text 42"/>
          <p:cNvSpPr/>
          <p:nvPr/>
        </p:nvSpPr>
        <p:spPr>
          <a:xfrm>
            <a:off x="4937760" y="329184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on failure</a:t>
            </a:r>
            <a:endParaRPr lang="en-US" sz="1050" dirty="0"/>
          </a:p>
        </p:txBody>
      </p:sp>
      <p:sp>
        <p:nvSpPr>
          <p:cNvPr id="46" name="Text 43"/>
          <p:cNvSpPr/>
          <p:nvPr/>
        </p:nvSpPr>
        <p:spPr>
          <a:xfrm>
            <a:off x="4937760" y="3529584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HubSpot call fails, the record is queued for retry. BQ retains sync_status = pending.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4791456" y="3822192"/>
            <a:ext cx="4096512" cy="512064"/>
          </a:xfrm>
          <a:prstGeom prst="rect">
            <a:avLst/>
          </a:prstGeom>
          <a:solidFill>
            <a:srgbClr val="0D1B2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8" name="Shape 45"/>
          <p:cNvSpPr/>
          <p:nvPr/>
        </p:nvSpPr>
        <p:spPr>
          <a:xfrm>
            <a:off x="4791456" y="3822192"/>
            <a:ext cx="64008" cy="512064"/>
          </a:xfrm>
          <a:prstGeom prst="rect">
            <a:avLst/>
          </a:prstGeom>
          <a:solidFill>
            <a:srgbClr val="FF7A59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9" name="Text 46"/>
          <p:cNvSpPr/>
          <p:nvPr/>
        </p:nvSpPr>
        <p:spPr>
          <a:xfrm>
            <a:off x="4937760" y="3840480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licence note</a:t>
            </a:r>
            <a:endParaRPr lang="en-US" sz="1050" dirty="0"/>
          </a:p>
        </p:txBody>
      </p:sp>
      <p:sp>
        <p:nvSpPr>
          <p:cNvPr id="50" name="Text 47"/>
          <p:cNvSpPr/>
          <p:nvPr/>
        </p:nvSpPr>
        <p:spPr>
          <a:xfrm>
            <a:off x="4937760" y="4078224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uses a Private App API token (no user seat required). Licence used for CRM workflows only.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4462272" y="1051560"/>
            <a:ext cx="0" cy="3529584"/>
          </a:xfrm>
          <a:prstGeom prst="line">
            <a:avLst/>
          </a:prstGeom>
          <a:noFill/>
          <a:ln w="6350">
            <a:solidFill>
              <a:srgbClr val="00B4C8"/>
            </a:solidFill>
            <a:prstDash val="dash"/>
          </a:ln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234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960120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Text 3"/>
          <p:cNvSpPr/>
          <p:nvPr/>
        </p:nvSpPr>
        <p:spPr>
          <a:xfrm>
            <a:off x="411480" y="1828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 TO NAVIGATE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256032" y="1078992"/>
            <a:ext cx="8631936" cy="704088"/>
          </a:xfrm>
          <a:prstGeom prst="rect">
            <a:avLst/>
          </a:prstGeom>
          <a:solidFill>
            <a:srgbClr val="12234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8" name="Shape 5"/>
          <p:cNvSpPr/>
          <p:nvPr/>
        </p:nvSpPr>
        <p:spPr>
          <a:xfrm>
            <a:off x="256032" y="1078992"/>
            <a:ext cx="502920" cy="704088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Text 6"/>
          <p:cNvSpPr/>
          <p:nvPr/>
        </p:nvSpPr>
        <p:spPr>
          <a:xfrm>
            <a:off x="256032" y="1078992"/>
            <a:ext cx="502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41248" y="111556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is an append-optimised warehouse, not a row-level DB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41248" y="1389888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BQ is designed for analytics, not transactional updates. True in-place row updates require DML (UPDATE/MERGE), which are slower and cost more. Table structure needs careful design — MERGE statements and date partitioning to keep update performance acceptable.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7863840" y="1280160"/>
            <a:ext cx="914400" cy="274320"/>
          </a:xfrm>
          <a:prstGeom prst="rect">
            <a:avLst/>
          </a:prstGeom>
          <a:solidFill>
            <a:srgbClr val="F43F5E">
              <a:alpha val="85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Text 10"/>
          <p:cNvSpPr/>
          <p:nvPr/>
        </p:nvSpPr>
        <p:spPr>
          <a:xfrm>
            <a:off x="7863840" y="12801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56032" y="1837944"/>
            <a:ext cx="8631936" cy="704088"/>
          </a:xfrm>
          <a:prstGeom prst="rect">
            <a:avLst/>
          </a:prstGeom>
          <a:solidFill>
            <a:srgbClr val="12234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5" name="Shape 12"/>
          <p:cNvSpPr/>
          <p:nvPr/>
        </p:nvSpPr>
        <p:spPr>
          <a:xfrm>
            <a:off x="256032" y="1837944"/>
            <a:ext cx="502920" cy="704088"/>
          </a:xfrm>
          <a:prstGeom prst="rect">
            <a:avLst/>
          </a:prstGeom>
          <a:solidFill>
            <a:srgbClr val="F43F5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6" name="Text 13"/>
          <p:cNvSpPr/>
          <p:nvPr/>
        </p:nvSpPr>
        <p:spPr>
          <a:xfrm>
            <a:off x="256032" y="1837944"/>
            <a:ext cx="502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41248" y="1874520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 field mapping and schema alignment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41248" y="2148840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platform field has a 1:1 HubSpot equivalent. Custom properties need to be created, and a formal field map maintained. Any schema change in BQ not reflected in HubSpot (or vice versa) will cause sync failures. Requires careful upfront mapping and governance.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863840" y="2039112"/>
            <a:ext cx="914400" cy="274320"/>
          </a:xfrm>
          <a:prstGeom prst="rect">
            <a:avLst/>
          </a:prstGeom>
          <a:solidFill>
            <a:srgbClr val="F43F5E">
              <a:alpha val="85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0" name="Text 17"/>
          <p:cNvSpPr/>
          <p:nvPr/>
        </p:nvSpPr>
        <p:spPr>
          <a:xfrm>
            <a:off x="7863840" y="2039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56032" y="2596896"/>
            <a:ext cx="8631936" cy="704088"/>
          </a:xfrm>
          <a:prstGeom prst="rect">
            <a:avLst/>
          </a:prstGeom>
          <a:solidFill>
            <a:srgbClr val="12234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2" name="Shape 19"/>
          <p:cNvSpPr/>
          <p:nvPr/>
        </p:nvSpPr>
        <p:spPr>
          <a:xfrm>
            <a:off x="256032" y="2596896"/>
            <a:ext cx="502920" cy="70408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3" name="Text 20"/>
          <p:cNvSpPr/>
          <p:nvPr/>
        </p:nvSpPr>
        <p:spPr>
          <a:xfrm>
            <a:off x="256032" y="2596896"/>
            <a:ext cx="502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41248" y="2633472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sync failures gracefully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841248" y="2907792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HubSpot is unavailable or rate-limited (API limit: 100 calls/10s on paid tier), the async queue can back up. We need a dead-letter queue, retry logic with exponential backoff, and a visible sync status indicator so operators know which records haven't synced.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7863840" y="2798064"/>
            <a:ext cx="914400" cy="274320"/>
          </a:xfrm>
          <a:prstGeom prst="rect">
            <a:avLst/>
          </a:prstGeom>
          <a:solidFill>
            <a:srgbClr val="F59E0B">
              <a:alpha val="85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7" name="Text 24"/>
          <p:cNvSpPr/>
          <p:nvPr/>
        </p:nvSpPr>
        <p:spPr>
          <a:xfrm>
            <a:off x="7863840" y="27980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256032" y="3355848"/>
            <a:ext cx="8631936" cy="704088"/>
          </a:xfrm>
          <a:prstGeom prst="rect">
            <a:avLst/>
          </a:prstGeom>
          <a:solidFill>
            <a:srgbClr val="12234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9" name="Shape 26"/>
          <p:cNvSpPr/>
          <p:nvPr/>
        </p:nvSpPr>
        <p:spPr>
          <a:xfrm>
            <a:off x="256032" y="3355848"/>
            <a:ext cx="502920" cy="70408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0" name="Text 27"/>
          <p:cNvSpPr/>
          <p:nvPr/>
        </p:nvSpPr>
        <p:spPr>
          <a:xfrm>
            <a:off x="256032" y="3355848"/>
            <a:ext cx="502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841248" y="3392424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resolution — who wins when BQ and HubSpot diverge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841248" y="3666744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HubSpot user updates a deal directly inside HubSpot (outside the platform) and then a market champion edits the same record, we have a conflict. The platform must be defined as the master — inbound HubSpot changes must come via scheduled ingestion only.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863840" y="3557016"/>
            <a:ext cx="914400" cy="274320"/>
          </a:xfrm>
          <a:prstGeom prst="rect">
            <a:avLst/>
          </a:prstGeom>
          <a:solidFill>
            <a:srgbClr val="F59E0B">
              <a:alpha val="85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4" name="Text 31"/>
          <p:cNvSpPr/>
          <p:nvPr/>
        </p:nvSpPr>
        <p:spPr>
          <a:xfrm>
            <a:off x="7863840" y="35570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256032" y="4114800"/>
            <a:ext cx="8631936" cy="704088"/>
          </a:xfrm>
          <a:prstGeom prst="rect">
            <a:avLst/>
          </a:prstGeom>
          <a:solidFill>
            <a:srgbClr val="12234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6" name="Shape 33"/>
          <p:cNvSpPr/>
          <p:nvPr/>
        </p:nvSpPr>
        <p:spPr>
          <a:xfrm>
            <a:off x="256032" y="4114800"/>
            <a:ext cx="502920" cy="70408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7" name="Text 34"/>
          <p:cNvSpPr/>
          <p:nvPr/>
        </p:nvSpPr>
        <p:spPr>
          <a:xfrm>
            <a:off x="256032" y="4114800"/>
            <a:ext cx="502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841248" y="4151376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security rules and role-based access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841248" y="4425696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Functions must validate that each user can only edit records within their market scope. Without tight Firebase security rules and server-side RBAC, any authenticated user could overwrite any row. This must be designed before Phase 1 goes live.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7863840" y="4315968"/>
            <a:ext cx="914400" cy="274320"/>
          </a:xfrm>
          <a:prstGeom prst="rect">
            <a:avLst/>
          </a:prstGeom>
          <a:solidFill>
            <a:srgbClr val="F59E0B">
              <a:alpha val="85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1" name="Text 38"/>
          <p:cNvSpPr/>
          <p:nvPr/>
        </p:nvSpPr>
        <p:spPr>
          <a:xfrm>
            <a:off x="7863840" y="43159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2234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960120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36576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Text 3"/>
          <p:cNvSpPr/>
          <p:nvPr/>
        </p:nvSpPr>
        <p:spPr>
          <a:xfrm>
            <a:off x="411480" y="1828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TIMELINE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874520" y="1024128"/>
            <a:ext cx="1005840" cy="365760"/>
          </a:xfrm>
          <a:prstGeom prst="rect">
            <a:avLst/>
          </a:prstGeom>
          <a:solidFill>
            <a:srgbClr val="12234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Text 5"/>
          <p:cNvSpPr/>
          <p:nvPr/>
        </p:nvSpPr>
        <p:spPr>
          <a:xfrm>
            <a:off x="1874520" y="10241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'26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880360" y="1024128"/>
            <a:ext cx="1005840" cy="365760"/>
          </a:xfrm>
          <a:prstGeom prst="rect">
            <a:avLst/>
          </a:prstGeom>
          <a:solidFill>
            <a:srgbClr val="0D1B2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Text 7"/>
          <p:cNvSpPr/>
          <p:nvPr/>
        </p:nvSpPr>
        <p:spPr>
          <a:xfrm>
            <a:off x="2880360" y="10241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'26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886200" y="1024128"/>
            <a:ext cx="1005840" cy="365760"/>
          </a:xfrm>
          <a:prstGeom prst="rect">
            <a:avLst/>
          </a:prstGeom>
          <a:solidFill>
            <a:srgbClr val="12234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" name="Text 9"/>
          <p:cNvSpPr/>
          <p:nvPr/>
        </p:nvSpPr>
        <p:spPr>
          <a:xfrm>
            <a:off x="3886200" y="10241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'26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892040" y="1024128"/>
            <a:ext cx="1005840" cy="365760"/>
          </a:xfrm>
          <a:prstGeom prst="rect">
            <a:avLst/>
          </a:prstGeom>
          <a:solidFill>
            <a:srgbClr val="0D1B2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Text 11"/>
          <p:cNvSpPr/>
          <p:nvPr/>
        </p:nvSpPr>
        <p:spPr>
          <a:xfrm>
            <a:off x="4892040" y="10241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'26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897880" y="1024128"/>
            <a:ext cx="1005840" cy="365760"/>
          </a:xfrm>
          <a:prstGeom prst="rect">
            <a:avLst/>
          </a:prstGeom>
          <a:solidFill>
            <a:srgbClr val="12234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6" name="Text 13"/>
          <p:cNvSpPr/>
          <p:nvPr/>
        </p:nvSpPr>
        <p:spPr>
          <a:xfrm>
            <a:off x="5897880" y="10241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'26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903720" y="1024128"/>
            <a:ext cx="1005840" cy="365760"/>
          </a:xfrm>
          <a:prstGeom prst="rect">
            <a:avLst/>
          </a:prstGeom>
          <a:solidFill>
            <a:srgbClr val="0D1B2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" name="Text 15"/>
          <p:cNvSpPr/>
          <p:nvPr/>
        </p:nvSpPr>
        <p:spPr>
          <a:xfrm>
            <a:off x="6903720" y="10241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'26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909560" y="1024128"/>
            <a:ext cx="1005840" cy="365760"/>
          </a:xfrm>
          <a:prstGeom prst="rect">
            <a:avLst/>
          </a:prstGeom>
          <a:solidFill>
            <a:srgbClr val="12234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0" name="Text 17"/>
          <p:cNvSpPr/>
          <p:nvPr/>
        </p:nvSpPr>
        <p:spPr>
          <a:xfrm>
            <a:off x="7909560" y="10241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'26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8915400" y="1024128"/>
            <a:ext cx="1005840" cy="365760"/>
          </a:xfrm>
          <a:prstGeom prst="rect">
            <a:avLst/>
          </a:prstGeom>
          <a:solidFill>
            <a:srgbClr val="0D1B2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2" name="Text 19"/>
          <p:cNvSpPr/>
          <p:nvPr/>
        </p:nvSpPr>
        <p:spPr>
          <a:xfrm>
            <a:off x="8915400" y="10241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'26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256032" y="1435608"/>
            <a:ext cx="8631936" cy="932688"/>
          </a:xfrm>
          <a:prstGeom prst="rect">
            <a:avLst/>
          </a:prstGeom>
          <a:solidFill>
            <a:srgbClr val="12234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4" name="Shape 21"/>
          <p:cNvSpPr/>
          <p:nvPr/>
        </p:nvSpPr>
        <p:spPr>
          <a:xfrm>
            <a:off x="256032" y="1435608"/>
            <a:ext cx="1572768" cy="932688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5" name="Text 22"/>
          <p:cNvSpPr/>
          <p:nvPr/>
        </p:nvSpPr>
        <p:spPr>
          <a:xfrm>
            <a:off x="301752" y="1481328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Edit Grid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301752" y="1965960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BQ write layer · dropdowns · save feedback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1911096" y="1691640"/>
            <a:ext cx="2944368" cy="274320"/>
          </a:xfrm>
          <a:prstGeom prst="rect">
            <a:avLst/>
          </a:prstGeom>
          <a:solidFill>
            <a:srgbClr val="00B4C8">
              <a:alpha val="75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8" name="Shape 25"/>
          <p:cNvSpPr/>
          <p:nvPr/>
        </p:nvSpPr>
        <p:spPr>
          <a:xfrm>
            <a:off x="1911096" y="1691640"/>
            <a:ext cx="91440" cy="274320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9" name="Shape 26"/>
          <p:cNvSpPr/>
          <p:nvPr/>
        </p:nvSpPr>
        <p:spPr>
          <a:xfrm>
            <a:off x="1956816" y="1746504"/>
            <a:ext cx="164592" cy="164592"/>
          </a:xfrm>
          <a:prstGeom prst="ellipse">
            <a:avLst/>
          </a:prstGeom>
          <a:solidFill>
            <a:srgbClr val="0A0F1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0" name="Shape 27"/>
          <p:cNvSpPr/>
          <p:nvPr/>
        </p:nvSpPr>
        <p:spPr>
          <a:xfrm>
            <a:off x="1975104" y="1764792"/>
            <a:ext cx="128016" cy="128016"/>
          </a:xfrm>
          <a:prstGeom prst="ellipse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1" name="Text 28"/>
          <p:cNvSpPr/>
          <p:nvPr/>
        </p:nvSpPr>
        <p:spPr>
          <a:xfrm>
            <a:off x="1636776" y="2002536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7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1636776" y="2185416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3300984" y="1746504"/>
            <a:ext cx="164592" cy="164592"/>
          </a:xfrm>
          <a:prstGeom prst="ellipse">
            <a:avLst/>
          </a:prstGeom>
          <a:solidFill>
            <a:srgbClr val="0A0F1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4" name="Shape 31"/>
          <p:cNvSpPr/>
          <p:nvPr/>
        </p:nvSpPr>
        <p:spPr>
          <a:xfrm>
            <a:off x="3319272" y="1764792"/>
            <a:ext cx="128016" cy="128016"/>
          </a:xfrm>
          <a:prstGeom prst="ellipse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5" name="Text 32"/>
          <p:cNvSpPr/>
          <p:nvPr/>
        </p:nvSpPr>
        <p:spPr>
          <a:xfrm>
            <a:off x="2980944" y="2002536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19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2980944" y="2185416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layer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4736592" y="1746504"/>
            <a:ext cx="164592" cy="164592"/>
          </a:xfrm>
          <a:prstGeom prst="ellipse">
            <a:avLst/>
          </a:prstGeom>
          <a:solidFill>
            <a:srgbClr val="0A0F1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8" name="Shape 35"/>
          <p:cNvSpPr/>
          <p:nvPr/>
        </p:nvSpPr>
        <p:spPr>
          <a:xfrm>
            <a:off x="4754880" y="1764792"/>
            <a:ext cx="128016" cy="128016"/>
          </a:xfrm>
          <a:prstGeom prst="ellipse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9" name="Text 36"/>
          <p:cNvSpPr/>
          <p:nvPr/>
        </p:nvSpPr>
        <p:spPr>
          <a:xfrm>
            <a:off x="4416552" y="2002536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16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4416552" y="2185416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</a:t>
            </a:r>
            <a:endParaRPr lang="en-US" sz="700" dirty="0"/>
          </a:p>
        </p:txBody>
      </p:sp>
      <p:sp>
        <p:nvSpPr>
          <p:cNvPr id="41" name="Shape 38"/>
          <p:cNvSpPr/>
          <p:nvPr/>
        </p:nvSpPr>
        <p:spPr>
          <a:xfrm>
            <a:off x="256032" y="2423160"/>
            <a:ext cx="8631936" cy="932688"/>
          </a:xfrm>
          <a:prstGeom prst="rect">
            <a:avLst/>
          </a:prstGeom>
          <a:solidFill>
            <a:srgbClr val="0D1B2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2" name="Shape 39"/>
          <p:cNvSpPr/>
          <p:nvPr/>
        </p:nvSpPr>
        <p:spPr>
          <a:xfrm>
            <a:off x="256032" y="2423160"/>
            <a:ext cx="1572768" cy="932688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3" name="Text 40"/>
          <p:cNvSpPr/>
          <p:nvPr/>
        </p:nvSpPr>
        <p:spPr>
          <a:xfrm>
            <a:off x="301752" y="246888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301752" y="2953512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· audit trail · version history</a:t>
            </a:r>
            <a:endParaRPr lang="en-US" sz="750" dirty="0"/>
          </a:p>
        </p:txBody>
      </p:sp>
      <p:sp>
        <p:nvSpPr>
          <p:cNvPr id="45" name="Shape 42"/>
          <p:cNvSpPr/>
          <p:nvPr/>
        </p:nvSpPr>
        <p:spPr>
          <a:xfrm>
            <a:off x="3922776" y="2679192"/>
            <a:ext cx="2944368" cy="274320"/>
          </a:xfrm>
          <a:prstGeom prst="rect">
            <a:avLst/>
          </a:prstGeom>
          <a:solidFill>
            <a:srgbClr val="4F46E5">
              <a:alpha val="75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6" name="Shape 43"/>
          <p:cNvSpPr/>
          <p:nvPr/>
        </p:nvSpPr>
        <p:spPr>
          <a:xfrm>
            <a:off x="3922776" y="2679192"/>
            <a:ext cx="91440" cy="27432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7" name="Shape 44"/>
          <p:cNvSpPr/>
          <p:nvPr/>
        </p:nvSpPr>
        <p:spPr>
          <a:xfrm>
            <a:off x="3968496" y="2734056"/>
            <a:ext cx="164592" cy="164592"/>
          </a:xfrm>
          <a:prstGeom prst="ellipse">
            <a:avLst/>
          </a:prstGeom>
          <a:solidFill>
            <a:srgbClr val="0A0F1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8" name="Shape 45"/>
          <p:cNvSpPr/>
          <p:nvPr/>
        </p:nvSpPr>
        <p:spPr>
          <a:xfrm>
            <a:off x="3986784" y="2752344"/>
            <a:ext cx="128016" cy="128016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9" name="Text 46"/>
          <p:cNvSpPr/>
          <p:nvPr/>
        </p:nvSpPr>
        <p:spPr>
          <a:xfrm>
            <a:off x="3648456" y="2990088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16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3648456" y="3172968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design</a:t>
            </a:r>
            <a:endParaRPr lang="en-US" sz="700" dirty="0"/>
          </a:p>
        </p:txBody>
      </p:sp>
      <p:sp>
        <p:nvSpPr>
          <p:cNvPr id="51" name="Shape 48"/>
          <p:cNvSpPr/>
          <p:nvPr/>
        </p:nvSpPr>
        <p:spPr>
          <a:xfrm>
            <a:off x="5312664" y="2734056"/>
            <a:ext cx="164592" cy="164592"/>
          </a:xfrm>
          <a:prstGeom prst="ellipse">
            <a:avLst/>
          </a:prstGeom>
          <a:solidFill>
            <a:srgbClr val="0A0F1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2" name="Shape 49"/>
          <p:cNvSpPr/>
          <p:nvPr/>
        </p:nvSpPr>
        <p:spPr>
          <a:xfrm>
            <a:off x="5330952" y="2752344"/>
            <a:ext cx="128016" cy="128016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3" name="Text 50"/>
          <p:cNvSpPr/>
          <p:nvPr/>
        </p:nvSpPr>
        <p:spPr>
          <a:xfrm>
            <a:off x="4992624" y="2990088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28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4992624" y="3172968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history</a:t>
            </a:r>
            <a:endParaRPr lang="en-US" sz="700" dirty="0"/>
          </a:p>
        </p:txBody>
      </p:sp>
      <p:sp>
        <p:nvSpPr>
          <p:cNvPr id="55" name="Shape 52"/>
          <p:cNvSpPr/>
          <p:nvPr/>
        </p:nvSpPr>
        <p:spPr>
          <a:xfrm>
            <a:off x="6748272" y="2734056"/>
            <a:ext cx="164592" cy="164592"/>
          </a:xfrm>
          <a:prstGeom prst="ellipse">
            <a:avLst/>
          </a:prstGeom>
          <a:solidFill>
            <a:srgbClr val="0A0F1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6" name="Shape 53"/>
          <p:cNvSpPr/>
          <p:nvPr/>
        </p:nvSpPr>
        <p:spPr>
          <a:xfrm>
            <a:off x="6766560" y="2752344"/>
            <a:ext cx="128016" cy="128016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7" name="Text 54"/>
          <p:cNvSpPr/>
          <p:nvPr/>
        </p:nvSpPr>
        <p:spPr>
          <a:xfrm>
            <a:off x="6428232" y="2990088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11</a:t>
            </a:r>
            <a:endParaRPr lang="en-US" sz="750" dirty="0"/>
          </a:p>
        </p:txBody>
      </p:sp>
      <p:sp>
        <p:nvSpPr>
          <p:cNvPr id="58" name="Text 55"/>
          <p:cNvSpPr/>
          <p:nvPr/>
        </p:nvSpPr>
        <p:spPr>
          <a:xfrm>
            <a:off x="6428232" y="3172968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00" dirty="0"/>
          </a:p>
        </p:txBody>
      </p:sp>
      <p:sp>
        <p:nvSpPr>
          <p:cNvPr id="59" name="Shape 56"/>
          <p:cNvSpPr/>
          <p:nvPr/>
        </p:nvSpPr>
        <p:spPr>
          <a:xfrm>
            <a:off x="256032" y="3410712"/>
            <a:ext cx="8631936" cy="932688"/>
          </a:xfrm>
          <a:prstGeom prst="rect">
            <a:avLst/>
          </a:prstGeom>
          <a:solidFill>
            <a:srgbClr val="12234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0" name="Shape 57"/>
          <p:cNvSpPr/>
          <p:nvPr/>
        </p:nvSpPr>
        <p:spPr>
          <a:xfrm>
            <a:off x="256032" y="3410712"/>
            <a:ext cx="1572768" cy="932688"/>
          </a:xfrm>
          <a:prstGeom prst="rect">
            <a:avLst/>
          </a:prstGeom>
          <a:solidFill>
            <a:srgbClr val="FF7A59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1" name="Text 58"/>
          <p:cNvSpPr/>
          <p:nvPr/>
        </p:nvSpPr>
        <p:spPr>
          <a:xfrm>
            <a:off x="301752" y="3456432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 Sync</a:t>
            </a:r>
            <a:endParaRPr lang="en-US" sz="950" dirty="0"/>
          </a:p>
        </p:txBody>
      </p:sp>
      <p:sp>
        <p:nvSpPr>
          <p:cNvPr id="62" name="Text 59"/>
          <p:cNvSpPr/>
          <p:nvPr/>
        </p:nvSpPr>
        <p:spPr>
          <a:xfrm>
            <a:off x="301752" y="3941064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mapping · async write · retry queue</a:t>
            </a:r>
            <a:endParaRPr lang="en-US" sz="750" dirty="0"/>
          </a:p>
        </p:txBody>
      </p:sp>
      <p:sp>
        <p:nvSpPr>
          <p:cNvPr id="63" name="Shape 60"/>
          <p:cNvSpPr/>
          <p:nvPr/>
        </p:nvSpPr>
        <p:spPr>
          <a:xfrm>
            <a:off x="4928616" y="3666744"/>
            <a:ext cx="2944368" cy="274320"/>
          </a:xfrm>
          <a:prstGeom prst="rect">
            <a:avLst/>
          </a:prstGeom>
          <a:solidFill>
            <a:srgbClr val="FF7A59">
              <a:alpha val="75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4" name="Shape 61"/>
          <p:cNvSpPr/>
          <p:nvPr/>
        </p:nvSpPr>
        <p:spPr>
          <a:xfrm>
            <a:off x="4928616" y="3666744"/>
            <a:ext cx="91440" cy="274320"/>
          </a:xfrm>
          <a:prstGeom prst="rect">
            <a:avLst/>
          </a:prstGeom>
          <a:solidFill>
            <a:srgbClr val="FF7A59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5" name="Shape 62"/>
          <p:cNvSpPr/>
          <p:nvPr/>
        </p:nvSpPr>
        <p:spPr>
          <a:xfrm>
            <a:off x="4974336" y="3721608"/>
            <a:ext cx="164592" cy="164592"/>
          </a:xfrm>
          <a:prstGeom prst="ellipse">
            <a:avLst/>
          </a:prstGeom>
          <a:solidFill>
            <a:srgbClr val="0A0F1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6" name="Shape 63"/>
          <p:cNvSpPr/>
          <p:nvPr/>
        </p:nvSpPr>
        <p:spPr>
          <a:xfrm>
            <a:off x="4992624" y="3739896"/>
            <a:ext cx="128016" cy="128016"/>
          </a:xfrm>
          <a:prstGeom prst="ellipse">
            <a:avLst/>
          </a:prstGeom>
          <a:solidFill>
            <a:srgbClr val="FF7A59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7" name="Text 64"/>
          <p:cNvSpPr/>
          <p:nvPr/>
        </p:nvSpPr>
        <p:spPr>
          <a:xfrm>
            <a:off x="4654296" y="397764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14</a:t>
            </a:r>
            <a:endParaRPr lang="en-US" sz="750" dirty="0"/>
          </a:p>
        </p:txBody>
      </p:sp>
      <p:sp>
        <p:nvSpPr>
          <p:cNvPr id="68" name="Text 65"/>
          <p:cNvSpPr/>
          <p:nvPr/>
        </p:nvSpPr>
        <p:spPr>
          <a:xfrm>
            <a:off x="4654296" y="4160520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mapping</a:t>
            </a:r>
            <a:endParaRPr lang="en-US" sz="700" dirty="0"/>
          </a:p>
        </p:txBody>
      </p:sp>
      <p:sp>
        <p:nvSpPr>
          <p:cNvPr id="69" name="Shape 66"/>
          <p:cNvSpPr/>
          <p:nvPr/>
        </p:nvSpPr>
        <p:spPr>
          <a:xfrm>
            <a:off x="6318504" y="3721608"/>
            <a:ext cx="164592" cy="164592"/>
          </a:xfrm>
          <a:prstGeom prst="ellipse">
            <a:avLst/>
          </a:prstGeom>
          <a:solidFill>
            <a:srgbClr val="0A0F1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0" name="Shape 67"/>
          <p:cNvSpPr/>
          <p:nvPr/>
        </p:nvSpPr>
        <p:spPr>
          <a:xfrm>
            <a:off x="6336792" y="3739896"/>
            <a:ext cx="128016" cy="128016"/>
          </a:xfrm>
          <a:prstGeom prst="ellipse">
            <a:avLst/>
          </a:prstGeom>
          <a:solidFill>
            <a:srgbClr val="FF7A59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1" name="Text 68"/>
          <p:cNvSpPr/>
          <p:nvPr/>
        </p:nvSpPr>
        <p:spPr>
          <a:xfrm>
            <a:off x="5998464" y="397764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25</a:t>
            </a:r>
            <a:endParaRPr lang="en-US" sz="750" dirty="0"/>
          </a:p>
        </p:txBody>
      </p:sp>
      <p:sp>
        <p:nvSpPr>
          <p:cNvPr id="72" name="Text 69"/>
          <p:cNvSpPr/>
          <p:nvPr/>
        </p:nvSpPr>
        <p:spPr>
          <a:xfrm>
            <a:off x="5998464" y="4160520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logic</a:t>
            </a:r>
            <a:endParaRPr lang="en-US" sz="700" dirty="0"/>
          </a:p>
        </p:txBody>
      </p:sp>
      <p:sp>
        <p:nvSpPr>
          <p:cNvPr id="73" name="Shape 70"/>
          <p:cNvSpPr/>
          <p:nvPr/>
        </p:nvSpPr>
        <p:spPr>
          <a:xfrm>
            <a:off x="7754112" y="3721608"/>
            <a:ext cx="164592" cy="164592"/>
          </a:xfrm>
          <a:prstGeom prst="ellipse">
            <a:avLst/>
          </a:prstGeom>
          <a:solidFill>
            <a:srgbClr val="0A0F1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4" name="Shape 71"/>
          <p:cNvSpPr/>
          <p:nvPr/>
        </p:nvSpPr>
        <p:spPr>
          <a:xfrm>
            <a:off x="7772400" y="3739896"/>
            <a:ext cx="128016" cy="128016"/>
          </a:xfrm>
          <a:prstGeom prst="ellipse">
            <a:avLst/>
          </a:prstGeom>
          <a:solidFill>
            <a:srgbClr val="FF7A59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5" name="Text 72"/>
          <p:cNvSpPr/>
          <p:nvPr/>
        </p:nvSpPr>
        <p:spPr>
          <a:xfrm>
            <a:off x="7434072" y="3977640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22</a:t>
            </a:r>
            <a:endParaRPr lang="en-US" sz="750" dirty="0"/>
          </a:p>
        </p:txBody>
      </p:sp>
      <p:sp>
        <p:nvSpPr>
          <p:cNvPr id="76" name="Text 73"/>
          <p:cNvSpPr/>
          <p:nvPr/>
        </p:nvSpPr>
        <p:spPr>
          <a:xfrm>
            <a:off x="7434072" y="4160520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700" dirty="0"/>
          </a:p>
        </p:txBody>
      </p:sp>
      <p:sp>
        <p:nvSpPr>
          <p:cNvPr id="77" name="Shape 74"/>
          <p:cNvSpPr/>
          <p:nvPr/>
        </p:nvSpPr>
        <p:spPr>
          <a:xfrm>
            <a:off x="256032" y="4398264"/>
            <a:ext cx="8631936" cy="932688"/>
          </a:xfrm>
          <a:prstGeom prst="rect">
            <a:avLst/>
          </a:prstGeom>
          <a:solidFill>
            <a:srgbClr val="0D1B2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8" name="Shape 75"/>
          <p:cNvSpPr/>
          <p:nvPr/>
        </p:nvSpPr>
        <p:spPr>
          <a:xfrm>
            <a:off x="256032" y="4398264"/>
            <a:ext cx="1572768" cy="93268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9" name="Text 76"/>
          <p:cNvSpPr/>
          <p:nvPr/>
        </p:nvSpPr>
        <p:spPr>
          <a:xfrm>
            <a:off x="301752" y="4443984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Looker Dashboards</a:t>
            </a:r>
            <a:endParaRPr lang="en-US" sz="950" dirty="0"/>
          </a:p>
        </p:txBody>
      </p:sp>
      <p:sp>
        <p:nvSpPr>
          <p:cNvPr id="80" name="Text 77"/>
          <p:cNvSpPr/>
          <p:nvPr/>
        </p:nvSpPr>
        <p:spPr>
          <a:xfrm>
            <a:off x="301752" y="4928616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strip · drill-through · pipeline views</a:t>
            </a:r>
            <a:endParaRPr lang="en-US" sz="750" dirty="0"/>
          </a:p>
        </p:txBody>
      </p:sp>
      <p:sp>
        <p:nvSpPr>
          <p:cNvPr id="81" name="Shape 78"/>
          <p:cNvSpPr/>
          <p:nvPr/>
        </p:nvSpPr>
        <p:spPr>
          <a:xfrm>
            <a:off x="6940296" y="4654296"/>
            <a:ext cx="2944368" cy="274320"/>
          </a:xfrm>
          <a:prstGeom prst="rect">
            <a:avLst/>
          </a:prstGeom>
          <a:solidFill>
            <a:srgbClr val="F59E0B">
              <a:alpha val="75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2" name="Shape 79"/>
          <p:cNvSpPr/>
          <p:nvPr/>
        </p:nvSpPr>
        <p:spPr>
          <a:xfrm>
            <a:off x="6940296" y="4654296"/>
            <a:ext cx="91440" cy="274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3" name="Shape 80"/>
          <p:cNvSpPr/>
          <p:nvPr/>
        </p:nvSpPr>
        <p:spPr>
          <a:xfrm>
            <a:off x="6986016" y="4709160"/>
            <a:ext cx="164592" cy="164592"/>
          </a:xfrm>
          <a:prstGeom prst="ellipse">
            <a:avLst/>
          </a:prstGeom>
          <a:solidFill>
            <a:srgbClr val="0A0F1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4" name="Shape 81"/>
          <p:cNvSpPr/>
          <p:nvPr/>
        </p:nvSpPr>
        <p:spPr>
          <a:xfrm>
            <a:off x="7004304" y="4727448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5" name="Text 82"/>
          <p:cNvSpPr/>
          <p:nvPr/>
        </p:nvSpPr>
        <p:spPr>
          <a:xfrm>
            <a:off x="6665976" y="4965192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22</a:t>
            </a:r>
            <a:endParaRPr lang="en-US" sz="750" dirty="0"/>
          </a:p>
        </p:txBody>
      </p:sp>
      <p:sp>
        <p:nvSpPr>
          <p:cNvPr id="86" name="Text 83"/>
          <p:cNvSpPr/>
          <p:nvPr/>
        </p:nvSpPr>
        <p:spPr>
          <a:xfrm>
            <a:off x="6665976" y="5148072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700" dirty="0"/>
          </a:p>
        </p:txBody>
      </p:sp>
      <p:sp>
        <p:nvSpPr>
          <p:cNvPr id="87" name="Shape 84"/>
          <p:cNvSpPr/>
          <p:nvPr/>
        </p:nvSpPr>
        <p:spPr>
          <a:xfrm>
            <a:off x="8330184" y="4709160"/>
            <a:ext cx="164592" cy="164592"/>
          </a:xfrm>
          <a:prstGeom prst="ellipse">
            <a:avLst/>
          </a:prstGeom>
          <a:solidFill>
            <a:srgbClr val="0A0F1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8" name="Shape 85"/>
          <p:cNvSpPr/>
          <p:nvPr/>
        </p:nvSpPr>
        <p:spPr>
          <a:xfrm>
            <a:off x="8348472" y="4727448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9" name="Text 86"/>
          <p:cNvSpPr/>
          <p:nvPr/>
        </p:nvSpPr>
        <p:spPr>
          <a:xfrm>
            <a:off x="8010144" y="4965192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13</a:t>
            </a:r>
            <a:endParaRPr lang="en-US" sz="750" dirty="0"/>
          </a:p>
        </p:txBody>
      </p:sp>
      <p:sp>
        <p:nvSpPr>
          <p:cNvPr id="90" name="Text 87"/>
          <p:cNvSpPr/>
          <p:nvPr/>
        </p:nvSpPr>
        <p:spPr>
          <a:xfrm>
            <a:off x="8010144" y="5148072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strip</a:t>
            </a:r>
            <a:endParaRPr lang="en-US" sz="700" dirty="0"/>
          </a:p>
        </p:txBody>
      </p:sp>
      <p:sp>
        <p:nvSpPr>
          <p:cNvPr id="91" name="Shape 88"/>
          <p:cNvSpPr/>
          <p:nvPr/>
        </p:nvSpPr>
        <p:spPr>
          <a:xfrm>
            <a:off x="9765792" y="4709160"/>
            <a:ext cx="164592" cy="164592"/>
          </a:xfrm>
          <a:prstGeom prst="ellipse">
            <a:avLst/>
          </a:prstGeom>
          <a:solidFill>
            <a:srgbClr val="0A0F1E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2" name="Shape 89"/>
          <p:cNvSpPr/>
          <p:nvPr/>
        </p:nvSpPr>
        <p:spPr>
          <a:xfrm>
            <a:off x="9784080" y="4727448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3" name="Text 90"/>
          <p:cNvSpPr/>
          <p:nvPr/>
        </p:nvSpPr>
        <p:spPr>
          <a:xfrm>
            <a:off x="9445752" y="4965192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24</a:t>
            </a:r>
            <a:endParaRPr lang="en-US" sz="750" dirty="0"/>
          </a:p>
        </p:txBody>
      </p:sp>
      <p:sp>
        <p:nvSpPr>
          <p:cNvPr id="94" name="Text 91"/>
          <p:cNvSpPr/>
          <p:nvPr/>
        </p:nvSpPr>
        <p:spPr>
          <a:xfrm>
            <a:off x="9445752" y="5148072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700" dirty="0"/>
          </a:p>
        </p:txBody>
      </p:sp>
      <p:sp>
        <p:nvSpPr>
          <p:cNvPr id="95" name="Shape 92"/>
          <p:cNvSpPr/>
          <p:nvPr/>
        </p:nvSpPr>
        <p:spPr>
          <a:xfrm>
            <a:off x="1874520" y="1024128"/>
            <a:ext cx="0" cy="4069080"/>
          </a:xfrm>
          <a:prstGeom prst="line">
            <a:avLst/>
          </a:prstGeom>
          <a:noFill/>
          <a:ln w="19050">
            <a:solidFill>
              <a:srgbClr val="F43F5E"/>
            </a:solidFill>
            <a:prstDash val="dash"/>
          </a:ln>
        </p:spPr>
        <p:txBody>
          <a:bodyPr/>
          <a:lstStyle/>
          <a:p>
            <a:endParaRPr lang="en-ZA"/>
          </a:p>
        </p:txBody>
      </p:sp>
      <p:sp>
        <p:nvSpPr>
          <p:cNvPr id="96" name="Text 93"/>
          <p:cNvSpPr/>
          <p:nvPr/>
        </p:nvSpPr>
        <p:spPr>
          <a:xfrm>
            <a:off x="1554480" y="8229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2234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5943600" y="0"/>
            <a:ext cx="36576" cy="5143500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Text 3"/>
          <p:cNvSpPr/>
          <p:nvPr/>
        </p:nvSpPr>
        <p:spPr>
          <a:xfrm>
            <a:off x="457200" y="320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73152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now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457200" y="1481328"/>
            <a:ext cx="5257800" cy="493776"/>
          </a:xfrm>
          <a:prstGeom prst="rect">
            <a:avLst/>
          </a:prstGeom>
          <a:solidFill>
            <a:srgbClr val="122340"/>
          </a:solidFill>
          <a:ln/>
        </p:spPr>
        <p:txBody>
          <a:bodyPr/>
          <a:lstStyle/>
          <a:p>
            <a:endParaRPr lang="en-ZA" dirty="0"/>
          </a:p>
        </p:txBody>
      </p:sp>
      <p:sp>
        <p:nvSpPr>
          <p:cNvPr id="9" name="Shape 6"/>
          <p:cNvSpPr/>
          <p:nvPr/>
        </p:nvSpPr>
        <p:spPr>
          <a:xfrm>
            <a:off x="457200" y="1481328"/>
            <a:ext cx="64008" cy="493776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Text 7"/>
          <p:cNvSpPr/>
          <p:nvPr/>
        </p:nvSpPr>
        <p:spPr>
          <a:xfrm>
            <a:off x="603504" y="14813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Zukile Ncube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709160" y="14813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w/e 11 Apr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03504" y="1728216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Firebase Cloud Function with BigQuery write layer (MERGE/UPSERT pattern)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57200" y="2029968"/>
            <a:ext cx="5257800" cy="493776"/>
          </a:xfrm>
          <a:prstGeom prst="rect">
            <a:avLst/>
          </a:prstGeom>
          <a:solidFill>
            <a:srgbClr val="12234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Shape 11"/>
          <p:cNvSpPr/>
          <p:nvPr/>
        </p:nvSpPr>
        <p:spPr>
          <a:xfrm>
            <a:off x="457200" y="2029968"/>
            <a:ext cx="64008" cy="493776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" name="Text 12"/>
          <p:cNvSpPr/>
          <p:nvPr/>
        </p:nvSpPr>
        <p:spPr>
          <a:xfrm>
            <a:off x="603504" y="20299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Zukile Ncube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709160" y="20299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w/e 25 Apr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03504" y="2276856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inline editable grid — editable vs read-only field distinction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57200" y="2578608"/>
            <a:ext cx="5257800" cy="493776"/>
          </a:xfrm>
          <a:prstGeom prst="rect">
            <a:avLst/>
          </a:prstGeom>
          <a:solidFill>
            <a:srgbClr val="12234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9" name="Shape 16"/>
          <p:cNvSpPr/>
          <p:nvPr/>
        </p:nvSpPr>
        <p:spPr>
          <a:xfrm>
            <a:off x="457200" y="2578608"/>
            <a:ext cx="64008" cy="493776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0" name="Text 17"/>
          <p:cNvSpPr/>
          <p:nvPr/>
        </p:nvSpPr>
        <p:spPr>
          <a:xfrm>
            <a:off x="603504" y="25786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Wayne Tigere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709160" y="25786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w/e 18 Apr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03504" y="2825496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BigQuery table schema and HubSpot field mapping document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3127248"/>
            <a:ext cx="5257800" cy="493776"/>
          </a:xfrm>
          <a:prstGeom prst="rect">
            <a:avLst/>
          </a:prstGeom>
          <a:solidFill>
            <a:srgbClr val="12234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4" name="Shape 21"/>
          <p:cNvSpPr/>
          <p:nvPr/>
        </p:nvSpPr>
        <p:spPr>
          <a:xfrm>
            <a:off x="457200" y="3127248"/>
            <a:ext cx="64008" cy="493776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5" name="Text 22"/>
          <p:cNvSpPr/>
          <p:nvPr/>
        </p:nvSpPr>
        <p:spPr>
          <a:xfrm>
            <a:off x="603504" y="312724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 Macdonald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709160" y="31272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w/e 11 Apr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03504" y="3374136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opportunities.dentsuafrica.com sub-domain &amp; Firebase Hosting config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57200" y="3675888"/>
            <a:ext cx="5257800" cy="493776"/>
          </a:xfrm>
          <a:prstGeom prst="rect">
            <a:avLst/>
          </a:prstGeom>
          <a:solidFill>
            <a:srgbClr val="12234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9" name="Shape 26"/>
          <p:cNvSpPr/>
          <p:nvPr/>
        </p:nvSpPr>
        <p:spPr>
          <a:xfrm>
            <a:off x="457200" y="3675888"/>
            <a:ext cx="64008" cy="493776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0" name="Text 27"/>
          <p:cNvSpPr/>
          <p:nvPr/>
        </p:nvSpPr>
        <p:spPr>
          <a:xfrm>
            <a:off x="603504" y="367588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Wayne Tigere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4709160" y="36758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w/e 2 May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03504" y="3922776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Tighten Firebase Auth security rules and RBAC scoping per market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4224528"/>
            <a:ext cx="5257800" cy="493776"/>
          </a:xfrm>
          <a:prstGeom prst="rect">
            <a:avLst/>
          </a:prstGeom>
          <a:solidFill>
            <a:srgbClr val="122340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4" name="Shape 31"/>
          <p:cNvSpPr/>
          <p:nvPr/>
        </p:nvSpPr>
        <p:spPr>
          <a:xfrm>
            <a:off x="457200" y="4224528"/>
            <a:ext cx="64008" cy="493776"/>
          </a:xfrm>
          <a:prstGeom prst="rect">
            <a:avLst/>
          </a:prstGeom>
          <a:solidFill>
            <a:srgbClr val="00B4C8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5" name="Text 32"/>
          <p:cNvSpPr/>
          <p:nvPr/>
        </p:nvSpPr>
        <p:spPr>
          <a:xfrm>
            <a:off x="603504" y="42245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709160" y="422452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Friday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603504" y="4471416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sync — team alignment, Phase 2 feedback, and timeline sign-off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6035040" y="11430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00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</a:t>
            </a:r>
            <a:endParaRPr lang="en-US" sz="2400" dirty="0"/>
          </a:p>
        </p:txBody>
      </p:sp>
      <p:sp>
        <p:nvSpPr>
          <p:cNvPr id="39" name="Text 36"/>
          <p:cNvSpPr/>
          <p:nvPr/>
        </p:nvSpPr>
        <p:spPr>
          <a:xfrm>
            <a:off x="6035040" y="2084832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6035040" y="25603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target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400800" y="3127248"/>
            <a:ext cx="1737360" cy="0"/>
          </a:xfrm>
          <a:prstGeom prst="line">
            <a:avLst/>
          </a:prstGeom>
          <a:noFill/>
          <a:ln w="6350">
            <a:solidFill>
              <a:srgbClr val="00B4C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2" name="Text 39"/>
          <p:cNvSpPr/>
          <p:nvPr/>
        </p:nvSpPr>
        <p:spPr>
          <a:xfrm>
            <a:off x="6035040" y="329184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 sync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6035040" y="37490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2026</a:t>
            </a:r>
            <a:endParaRPr lang="en-US" sz="1500" dirty="0"/>
          </a:p>
        </p:txBody>
      </p:sp>
      <p:sp>
        <p:nvSpPr>
          <p:cNvPr id="44" name="Text 41"/>
          <p:cNvSpPr/>
          <p:nvPr/>
        </p:nvSpPr>
        <p:spPr>
          <a:xfrm>
            <a:off x="6035040" y="41330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target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720</TotalTime>
  <Words>1215</Words>
  <Application>Microsoft Office PowerPoint</Application>
  <PresentationFormat>On-screen Show (16:9)</PresentationFormat>
  <Paragraphs>192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SSA Opportunity Platform – Data Architecture</dc:title>
  <dc:subject>PptxGenJS Presentation</dc:subject>
  <dc:creator>PptxGenJS</dc:creator>
  <cp:lastModifiedBy>Wayne Tigere</cp:lastModifiedBy>
  <cp:revision>2</cp:revision>
  <dcterms:created xsi:type="dcterms:W3CDTF">2026-03-18T19:32:25Z</dcterms:created>
  <dcterms:modified xsi:type="dcterms:W3CDTF">2026-03-19T07:35:57Z</dcterms:modified>
</cp:coreProperties>
</file>